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26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79609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737360"/>
            <a:ext cx="4937760" cy="4937760"/>
          </a:xfrm>
          <a:prstGeom prst="ellipse">
            <a:avLst/>
          </a:prstGeom>
          <a:solidFill>
            <a:srgbClr val="2DD4BF">
              <a:alpha val="14000"/>
            </a:srgbClr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" name="Shape 1"/>
          <p:cNvSpPr/>
          <p:nvPr/>
        </p:nvSpPr>
        <p:spPr>
          <a:xfrm>
            <a:off x="10698480" y="3474720"/>
            <a:ext cx="3108960" cy="3108960"/>
          </a:xfrm>
          <a:prstGeom prst="ellipse">
            <a:avLst/>
          </a:prstGeom>
          <a:solidFill>
            <a:srgbClr val="2DD4BF">
              <a:alpha val="8000"/>
            </a:srgbClr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4" name="Text 2"/>
          <p:cNvSpPr/>
          <p:nvPr/>
        </p:nvSpPr>
        <p:spPr>
          <a:xfrm>
            <a:off x="777240" y="21488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Axial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822960" y="33375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i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Instant Capital  ·  Effortless Compliance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822960" y="3977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liquidity &amp; compliance engine for Philippine MSMEs built on Stellar.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841248" y="54406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Axon Enjin  —  Carlos Jerico Dela Torre · Aidan Tiu · Gerald Berongoy · Rhandie Sales Jr.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CHANGE IN THE WORLD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Being a Filipino business is going real-time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facts of business life are ending at the same moment — capital and compliance are both becoming real-time.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77240" y="2468880"/>
            <a:ext cx="5074920" cy="2788920"/>
          </a:xfrm>
          <a:prstGeom prst="roundRect">
            <a:avLst>
              <a:gd name="adj" fmla="val 3279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6" name="Text 4"/>
          <p:cNvSpPr/>
          <p:nvPr/>
        </p:nvSpPr>
        <p:spPr>
          <a:xfrm>
            <a:off x="1097280" y="2724912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CASH GAP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3108960"/>
            <a:ext cx="4434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$221B</a:t>
            </a:r>
            <a:endParaRPr lang="en-US" sz="4000" dirty="0"/>
          </a:p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MSME funding demand   vs  $15B  formal supply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1097280" y="4251960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 buyers pay Net 60–90. Payroll runs every two weeks. The cash is always trapped in the gap.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55080" y="2468880"/>
            <a:ext cx="5074920" cy="2788920"/>
          </a:xfrm>
          <a:prstGeom prst="roundRect">
            <a:avLst>
              <a:gd name="adj" fmla="val 3279"/>
            </a:avLst>
          </a:prstGeom>
          <a:solidFill>
            <a:srgbClr val="0F172A"/>
          </a:solidFill>
          <a:ln/>
          <a:effectLst>
            <a:outerShdw blurRad="127000" dist="38100" dir="5400000" algn="bl" rotWithShape="0">
              <a:srgbClr val="0F172A">
                <a:alpha val="22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10" name="Text 8"/>
          <p:cNvSpPr/>
          <p:nvPr/>
        </p:nvSpPr>
        <p:spPr>
          <a:xfrm>
            <a:off x="6675120" y="2724912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COMPLIANCE SHIFT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75120" y="3108960"/>
            <a:ext cx="4434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 31, 2026</a:t>
            </a:r>
            <a:endParaRPr lang="en-US" sz="3800" dirty="0"/>
          </a:p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BIR e-Invoicing (EIS) RR 11-2025 &amp; 26-2025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6675120" y="4251960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Structured JSON invoices, digitally signed, transmitted within 3 days. Paper, audited-later, is over — the real-time tax wave is here.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AXIAL</a:t>
            </a:r>
            <a:r>
              <a:rPr lang="en-US" sz="950" kern="0" spc="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Axon Enjin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436815" y="64008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Philippine Blockchain Week 2026   ·   2/12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737360"/>
            <a:ext cx="4937760" cy="4937760"/>
          </a:xfrm>
          <a:prstGeom prst="ellipse">
            <a:avLst/>
          </a:prstGeom>
          <a:solidFill>
            <a:srgbClr val="2DD4BF">
              <a:alpha val="14000"/>
            </a:srgbClr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" name="Shape 1"/>
          <p:cNvSpPr/>
          <p:nvPr/>
        </p:nvSpPr>
        <p:spPr>
          <a:xfrm>
            <a:off x="10698480" y="3474720"/>
            <a:ext cx="3108960" cy="3108960"/>
          </a:xfrm>
          <a:prstGeom prst="ellipse">
            <a:avLst/>
          </a:prstGeom>
          <a:solidFill>
            <a:srgbClr val="2DD4BF">
              <a:alpha val="8000"/>
            </a:srgbClr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WINNERS AND LOSERS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30352" y="8686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change creates a fork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777240" y="1965960"/>
            <a:ext cx="5074920" cy="2286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905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7" name="Text 5"/>
          <p:cNvSpPr/>
          <p:nvPr/>
        </p:nvSpPr>
        <p:spPr>
          <a:xfrm>
            <a:off x="1051560" y="219456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WINNERS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2606040"/>
            <a:ext cx="4480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Liquid + compliant + disciplined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Funded. Kept inside enterprise supply chains. Free to scale.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355080" y="1965960"/>
            <a:ext cx="5074920" cy="2286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0" name="Text 8"/>
          <p:cNvSpPr/>
          <p:nvPr/>
        </p:nvSpPr>
        <p:spPr>
          <a:xfrm>
            <a:off x="6629400" y="219456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LEFT BEHIND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629400" y="2606040"/>
            <a:ext cx="4480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Spreadsheet-bound + cash-starved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Dropped from supply chains (buyers refuse paper), penalized by BIR, locked out of capital with no collateral.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77240" y="4572000"/>
            <a:ext cx="10652760" cy="1325880"/>
          </a:xfrm>
          <a:prstGeom prst="roundRect">
            <a:avLst>
              <a:gd name="adj" fmla="val 689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3" name="Text 11"/>
          <p:cNvSpPr/>
          <p:nvPr/>
        </p:nvSpPr>
        <p:spPr>
          <a:xfrm>
            <a:off x="1051560" y="4754880"/>
            <a:ext cx="10149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And the undisciplined financiers blew up too.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Greensill: a $10B collapse, financing invoices that weren't confirmed to exist || Goldfinch: default after default on-chain.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lesson the whole industry learned: blockchain doesn't fix credit risk, discipline does. The winners are the disciplined.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AXIAL</a:t>
            </a:r>
            <a:r>
              <a:rPr lang="en-US" sz="950" kern="0" spc="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Axon Enjin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436815" y="64008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Philippine Blockchain Week 2026   ·   3/12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0D9488"/>
                </a:solidFill>
                <a:latin typeface="Segoe UI" pitchFamily="34" charset="0"/>
                <a:cs typeface="Segoe UI" pitchFamily="34" charset="-120"/>
              </a:rPr>
              <a:t>OUR VISION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Capital and compliance that just happen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Now imagine the other side of the change; a business where the friction simply disappears.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77240" y="2551176"/>
            <a:ext cx="82296" cy="71323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6" name="Text 4"/>
          <p:cNvSpPr/>
          <p:nvPr/>
        </p:nvSpPr>
        <p:spPr>
          <a:xfrm>
            <a:off x="1024128" y="2514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Cash in minutes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24128" y="2898648"/>
            <a:ext cx="10241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Invoice your client; the advance lands in minutes, not 60 days. No collateral.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77240" y="3483864"/>
            <a:ext cx="82296" cy="71323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9" name="Text 7"/>
          <p:cNvSpPr/>
          <p:nvPr/>
        </p:nvSpPr>
        <p:spPr>
          <a:xfrm>
            <a:off x="1024128" y="344728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Payroll, routed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24128" y="3831336"/>
            <a:ext cx="10241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SSS, PhilHealth, and Pag-IBIG split automatically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77240" y="4416552"/>
            <a:ext cx="82296" cy="71323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2" name="Text 10"/>
          <p:cNvSpPr/>
          <p:nvPr/>
        </p:nvSpPr>
        <p:spPr>
          <a:xfrm>
            <a:off x="1024128" y="4379976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Filing, ready to approve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24128" y="4764024"/>
            <a:ext cx="10241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BIR submission is prepared and waiting for one click. No midnight portals.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77240" y="5349240"/>
            <a:ext cx="82296" cy="71323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5" name="Text 13"/>
          <p:cNvSpPr/>
          <p:nvPr/>
        </p:nvSpPr>
        <p:spPr>
          <a:xfrm>
            <a:off x="1024128" y="5312664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 to building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024128" y="5696712"/>
            <a:ext cx="10241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You're liquid, you're compliant, and you're free to do the actual work.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AXIAL</a:t>
            </a:r>
            <a:r>
              <a:rPr lang="en-US" sz="950" kern="0" spc="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Axon Enjin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436815" y="64008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Philippine Blockchain Week 2026   ·   4/12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737360"/>
            <a:ext cx="4937760" cy="4937760"/>
          </a:xfrm>
          <a:prstGeom prst="ellipse">
            <a:avLst/>
          </a:prstGeom>
          <a:solidFill>
            <a:srgbClr val="2DD4BF">
              <a:alpha val="14000"/>
            </a:srgbClr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" name="Shape 1"/>
          <p:cNvSpPr/>
          <p:nvPr/>
        </p:nvSpPr>
        <p:spPr>
          <a:xfrm>
            <a:off x="10698480" y="3474720"/>
            <a:ext cx="3108960" cy="3108960"/>
          </a:xfrm>
          <a:prstGeom prst="ellipse">
            <a:avLst/>
          </a:prstGeom>
          <a:solidFill>
            <a:srgbClr val="2DD4BF">
              <a:alpha val="8000"/>
            </a:srgbClr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AXIAL WORKS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30352" y="8686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pipeline. Liquidity in, compliance out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Both halves turn on the same on-chain event — that's what makes them inseparable, not bolted together.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606040"/>
            <a:ext cx="2121408" cy="2468880"/>
          </a:xfrm>
          <a:prstGeom prst="roundRect">
            <a:avLst>
              <a:gd name="adj" fmla="val 431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8" name="Shape 6"/>
          <p:cNvSpPr/>
          <p:nvPr/>
        </p:nvSpPr>
        <p:spPr>
          <a:xfrm>
            <a:off x="1426464" y="2834640"/>
            <a:ext cx="548640" cy="54864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9" name="Text 7"/>
          <p:cNvSpPr/>
          <p:nvPr/>
        </p:nvSpPr>
        <p:spPr>
          <a:xfrm>
            <a:off x="1426464" y="2834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49808" y="352044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Payer confirms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86384" y="3913632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Verified payer confirms the invoice + acknowledges assignment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743200" y="361188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&gt;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926080" y="2606040"/>
            <a:ext cx="2121408" cy="2468880"/>
          </a:xfrm>
          <a:prstGeom prst="roundRect">
            <a:avLst>
              <a:gd name="adj" fmla="val 431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4" name="Shape 12"/>
          <p:cNvSpPr/>
          <p:nvPr/>
        </p:nvSpPr>
        <p:spPr>
          <a:xfrm>
            <a:off x="3712464" y="2834640"/>
            <a:ext cx="548640" cy="54864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5" name="Text 13"/>
          <p:cNvSpPr/>
          <p:nvPr/>
        </p:nvSpPr>
        <p:spPr>
          <a:xfrm>
            <a:off x="3712464" y="2834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035808" y="352044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Tokenize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3072384" y="3913632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confirmed receivable is minted on Soroban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0" y="361188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&gt;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212080" y="2606040"/>
            <a:ext cx="2121408" cy="2468880"/>
          </a:xfrm>
          <a:prstGeom prst="roundRect">
            <a:avLst>
              <a:gd name="adj" fmla="val 431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0" name="Shape 18"/>
          <p:cNvSpPr/>
          <p:nvPr/>
        </p:nvSpPr>
        <p:spPr>
          <a:xfrm>
            <a:off x="5998464" y="2834640"/>
            <a:ext cx="548640" cy="54864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1" name="Text 19"/>
          <p:cNvSpPr/>
          <p:nvPr/>
        </p:nvSpPr>
        <p:spPr>
          <a:xfrm>
            <a:off x="5998464" y="2834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321808" y="352044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Atomic swap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5358384" y="3913632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Funder advances USDC;</a:t>
            </a:r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see pesos in-app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15200" y="361188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&gt;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498080" y="2606040"/>
            <a:ext cx="2121408" cy="2468880"/>
          </a:xfrm>
          <a:prstGeom prst="roundRect">
            <a:avLst>
              <a:gd name="adj" fmla="val 431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6" name="Shape 24"/>
          <p:cNvSpPr/>
          <p:nvPr/>
        </p:nvSpPr>
        <p:spPr>
          <a:xfrm>
            <a:off x="8284464" y="2834640"/>
            <a:ext cx="548640" cy="54864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7" name="Text 25"/>
          <p:cNvSpPr/>
          <p:nvPr/>
        </p:nvSpPr>
        <p:spPr>
          <a:xfrm>
            <a:off x="8284464" y="2834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607808" y="352044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Payroll split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7644384" y="3913632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SSS / PhilHealth / Pag-IBIG routed in one transaction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601200" y="361188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&gt;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9784080" y="2606040"/>
            <a:ext cx="2121408" cy="2468880"/>
          </a:xfrm>
          <a:prstGeom prst="roundRect">
            <a:avLst>
              <a:gd name="adj" fmla="val 431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2" name="Shape 30"/>
          <p:cNvSpPr/>
          <p:nvPr/>
        </p:nvSpPr>
        <p:spPr>
          <a:xfrm>
            <a:off x="10570464" y="2834640"/>
            <a:ext cx="548640" cy="54864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3" name="Text 31"/>
          <p:cNvSpPr/>
          <p:nvPr/>
        </p:nvSpPr>
        <p:spPr>
          <a:xfrm>
            <a:off x="10570464" y="2834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9893808" y="352044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Compliance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9930384" y="3913632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BIR fields mapped, signed, queued for approval — proof on-ledger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48640" y="5440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spreadsheet in the middle.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AXIAL</a:t>
            </a:r>
            <a:r>
              <a:rPr lang="en-US" sz="950" kern="0" spc="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Axon Enjin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436815" y="64008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Philippine Blockchain Week 2026   ·   5/12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737360"/>
            <a:ext cx="4937760" cy="4937760"/>
          </a:xfrm>
          <a:prstGeom prst="ellipse">
            <a:avLst/>
          </a:prstGeom>
          <a:solidFill>
            <a:srgbClr val="2DD4BF">
              <a:alpha val="14000"/>
            </a:srgbClr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" name="Shape 1"/>
          <p:cNvSpPr/>
          <p:nvPr/>
        </p:nvSpPr>
        <p:spPr>
          <a:xfrm>
            <a:off x="10698480" y="3474720"/>
            <a:ext cx="3108960" cy="3108960"/>
          </a:xfrm>
          <a:prstGeom prst="ellipse">
            <a:avLst/>
          </a:prstGeom>
          <a:solidFill>
            <a:srgbClr val="2DD4BF">
              <a:alpha val="8000"/>
            </a:srgbClr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INSTANT CAPITAL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30352" y="8686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“How do I get cash now, without collateral?”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Upload a confirmed invoice. We tokenize it and execute an atomic swap on Stellar.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2697480"/>
            <a:ext cx="3429000" cy="1874520"/>
          </a:xfrm>
          <a:prstGeom prst="roundRect">
            <a:avLst>
              <a:gd name="adj" fmla="val 487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8" name="Text 6"/>
          <p:cNvSpPr/>
          <p:nvPr/>
        </p:nvSpPr>
        <p:spPr>
          <a:xfrm>
            <a:off x="960120" y="292608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≤ 85%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960120" y="38404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 face value advanced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434840" y="2697480"/>
            <a:ext cx="3429000" cy="1874520"/>
          </a:xfrm>
          <a:prstGeom prst="roundRect">
            <a:avLst>
              <a:gd name="adj" fmla="val 487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1" name="Text 9"/>
          <p:cNvSpPr/>
          <p:nvPr/>
        </p:nvSpPr>
        <p:spPr>
          <a:xfrm>
            <a:off x="4617720" y="292608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Minutes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617720" y="38404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60–90 days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092440" y="2697480"/>
            <a:ext cx="3429000" cy="1874520"/>
          </a:xfrm>
          <a:prstGeom prst="roundRect">
            <a:avLst>
              <a:gd name="adj" fmla="val 487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4" name="Text 12"/>
          <p:cNvSpPr/>
          <p:nvPr/>
        </p:nvSpPr>
        <p:spPr>
          <a:xfrm>
            <a:off x="8275320" y="292608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collateral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8275320" y="38404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receivable is the asset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77240" y="48920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interface shows pesos. Settlement runs on USDC underneath. That's the instant-capital half.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AXIAL</a:t>
            </a:r>
            <a:r>
              <a:rPr lang="en-US" sz="950" kern="0" spc="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Axon Enjin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436815" y="64008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Philippine Blockchain Week 2026   ·   6/12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TRUST LOOP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“What if it's a scam? What if the company closes?”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right question — and our answer is structural, not a promise. A closed loop of four independent layers.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77240" y="2514600"/>
            <a:ext cx="5212080" cy="1417320"/>
          </a:xfrm>
          <a:prstGeom prst="roundRect">
            <a:avLst>
              <a:gd name="adj" fmla="val 645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6" name="Shape 4"/>
          <p:cNvSpPr/>
          <p:nvPr/>
        </p:nvSpPr>
        <p:spPr>
          <a:xfrm>
            <a:off x="777240" y="2514600"/>
            <a:ext cx="91440" cy="1417320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7" name="Text 5"/>
          <p:cNvSpPr/>
          <p:nvPr/>
        </p:nvSpPr>
        <p:spPr>
          <a:xfrm>
            <a:off x="1051560" y="26974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· Confirmed-invoice gate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51560" y="3081528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3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funding unless the verified payer confirms the invoice. Kills fake &amp; inflated invoices at the root.</a:t>
            </a:r>
            <a:endParaRPr lang="en-US" sz="1230" dirty="0"/>
          </a:p>
        </p:txBody>
      </p:sp>
      <p:sp>
        <p:nvSpPr>
          <p:cNvPr id="9" name="Shape 7"/>
          <p:cNvSpPr/>
          <p:nvPr/>
        </p:nvSpPr>
        <p:spPr>
          <a:xfrm>
            <a:off x="6217920" y="2514600"/>
            <a:ext cx="5212080" cy="1417320"/>
          </a:xfrm>
          <a:prstGeom prst="roundRect">
            <a:avLst>
              <a:gd name="adj" fmla="val 645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0" name="Shape 8"/>
          <p:cNvSpPr/>
          <p:nvPr/>
        </p:nvSpPr>
        <p:spPr>
          <a:xfrm>
            <a:off x="6217920" y="2514600"/>
            <a:ext cx="91440" cy="1417320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1" name="Text 9"/>
          <p:cNvSpPr/>
          <p:nvPr/>
        </p:nvSpPr>
        <p:spPr>
          <a:xfrm>
            <a:off x="6492240" y="26974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· Notice of Assignment + lockbox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92240" y="3081528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3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Once acknowledged, paying anyone but the lockbox doesn't clear the debt (Civil Code). Kills redirection.</a:t>
            </a:r>
            <a:endParaRPr lang="en-US" sz="1230" dirty="0"/>
          </a:p>
        </p:txBody>
      </p:sp>
      <p:sp>
        <p:nvSpPr>
          <p:cNvPr id="13" name="Shape 11"/>
          <p:cNvSpPr/>
          <p:nvPr/>
        </p:nvSpPr>
        <p:spPr>
          <a:xfrm>
            <a:off x="777240" y="4114800"/>
            <a:ext cx="5212080" cy="1417320"/>
          </a:xfrm>
          <a:prstGeom prst="roundRect">
            <a:avLst>
              <a:gd name="adj" fmla="val 645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4" name="Shape 12"/>
          <p:cNvSpPr/>
          <p:nvPr/>
        </p:nvSpPr>
        <p:spPr>
          <a:xfrm>
            <a:off x="777240" y="4114800"/>
            <a:ext cx="91440" cy="1417320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5" name="Text 13"/>
          <p:cNvSpPr/>
          <p:nvPr/>
        </p:nvSpPr>
        <p:spPr>
          <a:xfrm>
            <a:off x="1051560" y="4297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· Reserve + recourse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51560" y="4681728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3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Advance 85%, not 100%, with a holdback + recourse. If a business closes, the payer still repays the funder.</a:t>
            </a:r>
            <a:endParaRPr lang="en-US" sz="1230" dirty="0"/>
          </a:p>
        </p:txBody>
      </p:sp>
      <p:sp>
        <p:nvSpPr>
          <p:cNvPr id="17" name="Shape 15"/>
          <p:cNvSpPr/>
          <p:nvPr/>
        </p:nvSpPr>
        <p:spPr>
          <a:xfrm>
            <a:off x="6217920" y="4114800"/>
            <a:ext cx="5212080" cy="1417320"/>
          </a:xfrm>
          <a:prstGeom prst="roundRect">
            <a:avLst>
              <a:gd name="adj" fmla="val 645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8" name="Shape 16"/>
          <p:cNvSpPr/>
          <p:nvPr/>
        </p:nvSpPr>
        <p:spPr>
          <a:xfrm>
            <a:off x="6217920" y="4114800"/>
            <a:ext cx="91440" cy="1417320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9" name="Text 17"/>
          <p:cNvSpPr/>
          <p:nvPr/>
        </p:nvSpPr>
        <p:spPr>
          <a:xfrm>
            <a:off x="6492240" y="4297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· Reconciliation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92240" y="4681728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3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Auto-freeze and escalate within days if a due invoice's lockbox stays empty. Leakage caught fast.</a:t>
            </a:r>
            <a:endParaRPr lang="en-US" sz="1230" dirty="0"/>
          </a:p>
        </p:txBody>
      </p:sp>
      <p:sp>
        <p:nvSpPr>
          <p:cNvPr id="21" name="Shape 19"/>
          <p:cNvSpPr/>
          <p:nvPr/>
        </p:nvSpPr>
        <p:spPr>
          <a:xfrm>
            <a:off x="769620" y="5717617"/>
            <a:ext cx="10652760" cy="566928"/>
          </a:xfrm>
          <a:prstGeom prst="roundRect">
            <a:avLst>
              <a:gd name="adj" fmla="val 16129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2" name="Text 20"/>
          <p:cNvSpPr/>
          <p:nvPr/>
        </p:nvSpPr>
        <p:spPr>
          <a:xfrm>
            <a:off x="769620" y="5726014"/>
            <a:ext cx="10652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don't promise fraud is impossible. We make it expensive to attempt, contained when it happens, and caught fast.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AXIAL</a:t>
            </a:r>
            <a:r>
              <a:rPr lang="en-US" sz="950" kern="0" spc="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Axon Enjin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436815" y="64008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Philippine Blockchain Week 2026   ·   7/12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737360"/>
            <a:ext cx="4937760" cy="4937760"/>
          </a:xfrm>
          <a:prstGeom prst="ellipse">
            <a:avLst/>
          </a:prstGeom>
          <a:solidFill>
            <a:srgbClr val="2DD4BF">
              <a:alpha val="14000"/>
            </a:srgbClr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" name="Shape 1"/>
          <p:cNvSpPr/>
          <p:nvPr/>
        </p:nvSpPr>
        <p:spPr>
          <a:xfrm>
            <a:off x="10698480" y="3474720"/>
            <a:ext cx="3108960" cy="3108960"/>
          </a:xfrm>
          <a:prstGeom prst="ellipse">
            <a:avLst/>
          </a:prstGeom>
          <a:solidFill>
            <a:srgbClr val="2DD4BF">
              <a:alpha val="8000"/>
            </a:srgbClr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COMPLIANCE CO-PILOT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30352" y="8686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Effortless, transparent. A person is always in the loop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deliberately do NOT silently auto-file to the BIR. Axial prepares; you approve.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2697480"/>
            <a:ext cx="3291840" cy="1965960"/>
          </a:xfrm>
          <a:prstGeom prst="roundRect">
            <a:avLst>
              <a:gd name="adj" fmla="val 465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8" name="Text 6"/>
          <p:cNvSpPr/>
          <p:nvPr/>
        </p:nvSpPr>
        <p:spPr>
          <a:xfrm>
            <a:off x="1005840" y="2852928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005840" y="340156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Prepare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05840" y="3803904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Map the ledger event to the EIS 20-field schema; JWS-sign; build payroll splits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087368" y="3520440"/>
            <a:ext cx="329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&gt;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416552" y="2697480"/>
            <a:ext cx="3291840" cy="1965960"/>
          </a:xfrm>
          <a:prstGeom prst="roundRect">
            <a:avLst>
              <a:gd name="adj" fmla="val 465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3" name="Text 11"/>
          <p:cNvSpPr/>
          <p:nvPr/>
        </p:nvSpPr>
        <p:spPr>
          <a:xfrm>
            <a:off x="4645152" y="2852928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645152" y="340156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645152" y="3803904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filing is surfaced for a human to check — the control that catches errors &amp; fraud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26680" y="3520440"/>
            <a:ext cx="329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&gt;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055864" y="2697480"/>
            <a:ext cx="3291840" cy="1965960"/>
          </a:xfrm>
          <a:prstGeom prst="roundRect">
            <a:avLst>
              <a:gd name="adj" fmla="val 465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8" name="Text 16"/>
          <p:cNvSpPr/>
          <p:nvPr/>
        </p:nvSpPr>
        <p:spPr>
          <a:xfrm>
            <a:off x="8284464" y="2852928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8284464" y="340156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Submit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284464" y="3803904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One-click approval transmits within T+3; reference written to the Stellar memo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77240" y="49377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auto-submission is on the roadmap — gated on BIR software certification + a Permit to Transmit. Until then, a human approves every filing.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AXIAL</a:t>
            </a:r>
            <a:r>
              <a:rPr lang="en-US" sz="950" kern="0" spc="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Axon Enjin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436815" y="64008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Philippine Blockchain Week 2026   ·   8/12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STELLAR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Speed, trust, and proof — all at once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problem needs all three in one rail. Stellar is the only one that delivers them in production.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77240" y="2606040"/>
            <a:ext cx="3429000" cy="18288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6" name="Text 4"/>
          <p:cNvSpPr/>
          <p:nvPr/>
        </p:nvSpPr>
        <p:spPr>
          <a:xfrm>
            <a:off x="960120" y="283464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Seconds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05840" y="352044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 settle, for fractions of a cent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34840" y="2606040"/>
            <a:ext cx="3429000" cy="18288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9" name="Text 7"/>
          <p:cNvSpPr/>
          <p:nvPr/>
        </p:nvSpPr>
        <p:spPr>
          <a:xfrm>
            <a:off x="4617720" y="283464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Production USDC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663440" y="352044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Circle-issued, on Mainnet — real money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92440" y="2606040"/>
            <a:ext cx="3429000" cy="18288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2" name="Text 10"/>
          <p:cNvSpPr/>
          <p:nvPr/>
        </p:nvSpPr>
        <p:spPr>
          <a:xfrm>
            <a:off x="8275320" y="283464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Verifiable trail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321040" y="352044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audit trail a buyer or regulator can check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77240" y="4800600"/>
            <a:ext cx="10652760" cy="640080"/>
          </a:xfrm>
          <a:prstGeom prst="roundRect">
            <a:avLst>
              <a:gd name="adj" fmla="val 14286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5" name="Text 13"/>
          <p:cNvSpPr/>
          <p:nvPr/>
        </p:nvSpPr>
        <p:spPr>
          <a:xfrm>
            <a:off x="777240" y="4800600"/>
            <a:ext cx="10652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chain is the rails and the proof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AXIAL</a:t>
            </a:r>
            <a:r>
              <a:rPr lang="en-US" sz="950" kern="0" spc="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Axon Enjin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436815" y="64008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Philippine Blockchain Week 2026   ·   9/12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737360"/>
            <a:ext cx="4937760" cy="4937760"/>
          </a:xfrm>
          <a:prstGeom prst="ellipse">
            <a:avLst/>
          </a:prstGeom>
          <a:solidFill>
            <a:srgbClr val="2DD4BF">
              <a:alpha val="14000"/>
            </a:srgbClr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" name="Shape 1"/>
          <p:cNvSpPr/>
          <p:nvPr/>
        </p:nvSpPr>
        <p:spPr>
          <a:xfrm>
            <a:off x="10698480" y="3474720"/>
            <a:ext cx="3108960" cy="3108960"/>
          </a:xfrm>
          <a:prstGeom prst="ellipse">
            <a:avLst/>
          </a:prstGeom>
          <a:solidFill>
            <a:srgbClr val="2DD4BF">
              <a:alpha val="8000"/>
            </a:srgbClr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 WE MAKE IT REAL?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30352" y="8686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didn't write a deck and stop. We built it — in 7 days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822960" y="2286000"/>
            <a:ext cx="182880" cy="18288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7" name="Text 5"/>
          <p:cNvSpPr/>
          <p:nvPr/>
        </p:nvSpPr>
        <p:spPr>
          <a:xfrm>
            <a:off x="1188720" y="2185416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Soroban contracts LIVE on Stellar Mainnet — mint · swap · payroll split · settlement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22960" y="2852928"/>
            <a:ext cx="182880" cy="18288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9" name="Text 7"/>
          <p:cNvSpPr/>
          <p:nvPr/>
        </p:nvSpPr>
        <p:spPr>
          <a:xfrm>
            <a:off x="1188720" y="2752344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 USDC atomic swap  ·  payer portal with NoA + lockbox funding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3419856"/>
            <a:ext cx="182880" cy="18288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1" name="Text 9"/>
          <p:cNvSpPr/>
          <p:nvPr/>
        </p:nvSpPr>
        <p:spPr>
          <a:xfrm>
            <a:off x="1188720" y="331927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EIS Co-Pilot preparing JWS-signed payloads, reference written to the ledger memo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22960" y="3986784"/>
            <a:ext cx="182880" cy="18288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3" name="Text 11"/>
          <p:cNvSpPr/>
          <p:nvPr/>
        </p:nvSpPr>
        <p:spPr>
          <a:xfrm>
            <a:off x="1188720" y="38862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2nd Runner-Up — Build on Stellar Philippines Hackathon 2026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22960" y="5166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Overview → Liquidity (confirm → tokenize → swap → pesos) → Compliance (payroll + EIS prepared → approve → memo)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464040" y="2286000"/>
            <a:ext cx="21488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F172A">
                <a:alpha val="22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pic>
        <p:nvPicPr>
          <p:cNvPr id="18" name="Image 0" descr="D:\PROJECTS\axial\docs\assets\axial-axonenjin-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468880"/>
            <a:ext cx="1783080" cy="178308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9235440" y="45262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axial.axonenjin.com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AXIAL</a:t>
            </a:r>
            <a:r>
              <a:rPr lang="en-US" sz="950" kern="0" spc="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Axon Enjin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7436815" y="64008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Philippine Blockchain Week 2026   ·   10/12</a:t>
            </a:r>
            <a:endParaRPr lang="en-US" sz="950" dirty="0"/>
          </a:p>
        </p:txBody>
      </p:sp>
      <p:sp>
        <p:nvSpPr>
          <p:cNvPr id="25" name="Shape 10">
            <a:extLst>
              <a:ext uri="{FF2B5EF4-FFF2-40B4-BE49-F238E27FC236}">
                <a16:creationId xmlns:a16="http://schemas.microsoft.com/office/drawing/2014/main" id="{A27A2281-71E2-C234-0C64-58D315FD545C}"/>
              </a:ext>
            </a:extLst>
          </p:cNvPr>
          <p:cNvSpPr/>
          <p:nvPr/>
        </p:nvSpPr>
        <p:spPr>
          <a:xfrm>
            <a:off x="822960" y="4553712"/>
            <a:ext cx="182880" cy="18288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7" name="Text 11">
            <a:extLst>
              <a:ext uri="{FF2B5EF4-FFF2-40B4-BE49-F238E27FC236}">
                <a16:creationId xmlns:a16="http://schemas.microsoft.com/office/drawing/2014/main" id="{E8DD78E8-6866-3D74-8428-5F09335D214F}"/>
              </a:ext>
            </a:extLst>
          </p:cNvPr>
          <p:cNvSpPr/>
          <p:nvPr/>
        </p:nvSpPr>
        <p:spPr>
          <a:xfrm>
            <a:off x="1188720" y="44500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Collaborating with PDAX Sandbox API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ROADMAP &amp; MODEL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we are and how it pays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777240" y="2011680"/>
            <a:ext cx="5212080" cy="2331720"/>
          </a:xfrm>
          <a:prstGeom prst="roundRect">
            <a:avLst>
              <a:gd name="adj" fmla="val 3922"/>
            </a:avLst>
          </a:prstGeom>
          <a:solidFill>
            <a:srgbClr val="F1F5F9"/>
          </a:solidFill>
          <a:ln w="1905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5" name="Text 3"/>
          <p:cNvSpPr/>
          <p:nvPr/>
        </p:nvSpPr>
        <p:spPr>
          <a:xfrm>
            <a:off x="1051560" y="221284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NOW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1051560" y="2606040"/>
            <a:ext cx="4754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4 contracts on Mainnet + real USDC swap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Closed-loop payer portal (NoA + lockbox)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Compliance Co-Pilot — prepare &amp; review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2011680"/>
            <a:ext cx="521208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172A">
                <a:alpha val="22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8" name="Text 6"/>
          <p:cNvSpPr/>
          <p:nvPr/>
        </p:nvSpPr>
        <p:spPr>
          <a:xfrm>
            <a:off x="6492240" y="221284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92240" y="2606040"/>
            <a:ext cx="4754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Final on-chain settlement leg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BIR certification + Permit to Transmit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Regulated, qualified liquidity partners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7240" y="4617720"/>
            <a:ext cx="10652760" cy="1280160"/>
          </a:xfrm>
          <a:prstGeom prst="roundRect">
            <a:avLst>
              <a:gd name="adj" fmla="val 7143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1" name="Text 9"/>
          <p:cNvSpPr/>
          <p:nvPr/>
        </p:nvSpPr>
        <p:spPr>
          <a:xfrm>
            <a:off x="105156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ENGINES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51560" y="512064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thin spread on every peso we unlock below traditional factoring.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recurring compliance subscription for every business the Dec-2026 mandate is about to catch. (Volume + a deadline)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AXIAL</a:t>
            </a:r>
            <a:r>
              <a:rPr lang="en-US" sz="950" kern="0" spc="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Axon Enjin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436815" y="64008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Philippine Blockchain Week 2026   ·   11/12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737360"/>
            <a:ext cx="4937760" cy="4937760"/>
          </a:xfrm>
          <a:prstGeom prst="ellipse">
            <a:avLst/>
          </a:prstGeom>
          <a:solidFill>
            <a:srgbClr val="2DD4BF">
              <a:alpha val="14000"/>
            </a:srgbClr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" name="Shape 1"/>
          <p:cNvSpPr/>
          <p:nvPr/>
        </p:nvSpPr>
        <p:spPr>
          <a:xfrm>
            <a:off x="10698480" y="3474720"/>
            <a:ext cx="3108960" cy="3108960"/>
          </a:xfrm>
          <a:prstGeom prst="ellipse">
            <a:avLst/>
          </a:prstGeom>
          <a:solidFill>
            <a:srgbClr val="2DD4BF">
              <a:alpha val="8000"/>
            </a:srgbClr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4" name="Shape 2"/>
          <p:cNvSpPr/>
          <p:nvPr/>
        </p:nvSpPr>
        <p:spPr>
          <a:xfrm>
            <a:off x="-1645920" y="4206240"/>
            <a:ext cx="4572000" cy="4572000"/>
          </a:xfrm>
          <a:prstGeom prst="ellipse">
            <a:avLst/>
          </a:prstGeom>
          <a:solidFill>
            <a:srgbClr val="2DD4BF">
              <a:alpha val="12000"/>
            </a:srgbClr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AXIAL IS HERE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30352" y="1280160"/>
            <a:ext cx="10972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Instant Capital.</a:t>
            </a:r>
            <a:endParaRPr lang="en-US" sz="4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Effortless Compliance.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32004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Filipino businesses shouldn't have to choose between making payroll and staying on the right side of the BIR. That's the axis we built Axial on.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66928" y="4443984"/>
            <a:ext cx="212788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AXIAL | AXON ENJIN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566928" y="4754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Carlos Jerico Dela Torre  ·  Aidan Tiu  ·  Gerald Berongoy  ·  Rhandie Sales Jr.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66928" y="5120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Polytechnic University of the Philippines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6928" y="5669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axial.axonenjin.com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9464040" y="4343400"/>
            <a:ext cx="210312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F172A">
                <a:alpha val="22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pic>
        <p:nvPicPr>
          <p:cNvPr id="14" name="Image 0" descr="D:\PROJECTS\axial\docs\assets\axial-axonenjin-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4526280"/>
            <a:ext cx="1737360" cy="1737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1214</Words>
  <Application>Microsoft Office PowerPoint</Application>
  <PresentationFormat>Widescreen</PresentationFormat>
  <Paragraphs>170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Axial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Axial — Philippine Blockchain Week 2026</dc:title>
  <dc:subject>PptxGenJS Presentation</dc:subject>
  <dc:creator>Axon Enjin</dc:creator>
  <cp:lastModifiedBy>Carlos Jerico Dela Torre</cp:lastModifiedBy>
  <cp:revision>33</cp:revision>
  <dcterms:created xsi:type="dcterms:W3CDTF">2026-06-18T11:38:38Z</dcterms:created>
  <dcterms:modified xsi:type="dcterms:W3CDTF">2026-06-18T12:00:34Z</dcterms:modified>
</cp:coreProperties>
</file>